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3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548B8-60E6-4C0B-AB1B-BA6DEAF3770E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95594-ADD7-4D74-BD49-04857153D4E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429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95594-ADD7-4D74-BD49-04857153D4EF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61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62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214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8103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2212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0364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565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96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590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745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945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0416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6F842-F158-4D90-8802-3CBC28528F65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C47D-A3B1-4133-B0DC-B5313B68802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248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frankfurter.dev/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https://newsapi.org/" TargetMode="Externa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EAE00-BBDE-6135-4801-C31F424E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30897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3E3A11E-B8F6-B9B8-23D8-B6B659AA7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hu-HU" sz="6100" dirty="0">
                <a:solidFill>
                  <a:schemeClr val="bg1"/>
                </a:solidFill>
              </a:rPr>
              <a:t>BigData / Üzleti Intelligencia </a:t>
            </a:r>
            <a:br>
              <a:rPr lang="hu-HU" sz="6100" dirty="0">
                <a:solidFill>
                  <a:schemeClr val="bg1"/>
                </a:solidFill>
              </a:rPr>
            </a:br>
            <a:r>
              <a:rPr lang="hu-HU" sz="6100" dirty="0">
                <a:solidFill>
                  <a:schemeClr val="bg1"/>
                </a:solidFill>
              </a:rPr>
              <a:t>(BI) rendszer fejlesztése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D2AB2FC-539A-EDF4-BD2F-E6E7B3B7A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hu-HU" sz="1700">
                <a:solidFill>
                  <a:schemeClr val="bg1"/>
                </a:solidFill>
              </a:rPr>
              <a:t>Dutka Lehel Ákos</a:t>
            </a:r>
            <a:br>
              <a:rPr lang="hu-HU" sz="1700">
                <a:solidFill>
                  <a:schemeClr val="bg1"/>
                </a:solidFill>
              </a:rPr>
            </a:br>
            <a:r>
              <a:rPr lang="hu-HU" sz="1700">
                <a:solidFill>
                  <a:schemeClr val="bg1"/>
                </a:solidFill>
              </a:rPr>
              <a:t>TO0WC2</a:t>
            </a:r>
          </a:p>
        </p:txBody>
      </p:sp>
    </p:spTree>
    <p:extLst>
      <p:ext uri="{BB962C8B-B14F-4D97-AF65-F5344CB8AC3E}">
        <p14:creationId xmlns:p14="http://schemas.microsoft.com/office/powerpoint/2010/main" val="3132206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7139C38-C635-F20B-8569-13101905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5400" dirty="0"/>
              <a:t>A projekt maga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568BE9-9FD7-87D2-7C92-D0241F057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anchor="ctr">
            <a:normAutofit/>
          </a:bodyPr>
          <a:lstStyle/>
          <a:p>
            <a:r>
              <a:rPr lang="hu-HU" sz="3200" dirty="0"/>
              <a:t>Mi is egy Big Data, Business </a:t>
            </a:r>
            <a:r>
              <a:rPr lang="hu-HU" sz="3200" dirty="0" err="1"/>
              <a:t>Intelligence</a:t>
            </a:r>
            <a:r>
              <a:rPr lang="hu-HU" sz="3200" dirty="0"/>
              <a:t> rendszer?</a:t>
            </a:r>
          </a:p>
          <a:p>
            <a:pPr lvl="1"/>
            <a:r>
              <a:rPr lang="hu-HU" sz="2800" dirty="0"/>
              <a:t>Nagy volumenű adatok kezelése</a:t>
            </a:r>
          </a:p>
          <a:p>
            <a:pPr lvl="1"/>
            <a:r>
              <a:rPr lang="hu-HU" sz="2800" dirty="0"/>
              <a:t>Felhasználó számára gyors és egyszerű tájékozódás nyújtása</a:t>
            </a:r>
          </a:p>
          <a:p>
            <a:pPr marL="457200" lvl="1" indent="0">
              <a:buNone/>
            </a:pPr>
            <a:endParaRPr lang="hu-HU" sz="2800" dirty="0"/>
          </a:p>
          <a:p>
            <a:r>
              <a:rPr lang="hu-HU" sz="3200" dirty="0"/>
              <a:t>Téma: Valutaárfolyamok és hírek megfigyelése</a:t>
            </a:r>
          </a:p>
          <a:p>
            <a:pPr lvl="1"/>
            <a:r>
              <a:rPr lang="hu-HU" dirty="0"/>
              <a:t>Összefüggések elemzésére lehetőség</a:t>
            </a:r>
          </a:p>
          <a:p>
            <a:pPr lvl="1"/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2563282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70B93F-B9A6-044F-C11D-5AD4991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5400"/>
              <a:t>Felhasznált technológiák</a:t>
            </a:r>
            <a:endParaRPr lang="hu-HU" sz="5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E39E0F-10AE-0F9E-FBB9-BC302082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5406"/>
            <a:ext cx="10168128" cy="4462784"/>
          </a:xfrm>
        </p:spPr>
        <p:txBody>
          <a:bodyPr>
            <a:normAutofit fontScale="92500" lnSpcReduction="10000"/>
          </a:bodyPr>
          <a:lstStyle/>
          <a:p>
            <a:r>
              <a:rPr lang="hu-HU" sz="2600" dirty="0"/>
              <a:t>API-k</a:t>
            </a:r>
          </a:p>
          <a:p>
            <a:pPr lvl="1"/>
            <a:r>
              <a:rPr lang="en-US" sz="1900" dirty="0" err="1">
                <a:hlinkClick r:id="rId3"/>
              </a:rPr>
              <a:t>Frankfurte</a:t>
            </a:r>
            <a:r>
              <a:rPr lang="hu-HU" sz="1900" dirty="0">
                <a:hlinkClick r:id="rId3"/>
              </a:rPr>
              <a:t>r</a:t>
            </a:r>
            <a:endParaRPr lang="hu-HU" sz="1900" dirty="0"/>
          </a:p>
          <a:p>
            <a:pPr lvl="1"/>
            <a:r>
              <a:rPr lang="hu-HU" sz="1900" dirty="0">
                <a:hlinkClick r:id="rId4"/>
              </a:rPr>
              <a:t>News API</a:t>
            </a:r>
            <a:endParaRPr lang="hu-HU" sz="1900" dirty="0"/>
          </a:p>
          <a:p>
            <a:pPr marL="0" lvl="1" indent="0"/>
            <a:r>
              <a:rPr lang="hu-HU" sz="2600" dirty="0"/>
              <a:t>Adattárolás</a:t>
            </a:r>
          </a:p>
          <a:p>
            <a:pPr lvl="1"/>
            <a:r>
              <a:rPr lang="hu-HU" sz="1900" dirty="0"/>
              <a:t>MSSQL: </a:t>
            </a:r>
            <a:r>
              <a:rPr lang="en-US" sz="1900" dirty="0"/>
              <a:t>Microsoft SQL Server Express Edition 2025</a:t>
            </a:r>
            <a:endParaRPr lang="hu-HU" sz="1900" dirty="0"/>
          </a:p>
          <a:p>
            <a:pPr lvl="1"/>
            <a:r>
              <a:rPr lang="hu-HU" sz="1900" dirty="0"/>
              <a:t>SQL server management </a:t>
            </a:r>
            <a:r>
              <a:rPr lang="hu-HU" sz="1900" dirty="0" err="1"/>
              <a:t>studio</a:t>
            </a:r>
            <a:r>
              <a:rPr lang="hu-HU" sz="1900" dirty="0"/>
              <a:t> 22</a:t>
            </a:r>
          </a:p>
          <a:p>
            <a:pPr marL="285750" lvl="1" indent="-285750"/>
            <a:r>
              <a:rPr lang="hu-HU" sz="2600" dirty="0"/>
              <a:t>ETL </a:t>
            </a:r>
            <a:r>
              <a:rPr lang="hu-HU" sz="2600" dirty="0" err="1"/>
              <a:t>jobs</a:t>
            </a:r>
            <a:endParaRPr lang="hu-HU" sz="2600" dirty="0"/>
          </a:p>
          <a:p>
            <a:pPr marL="742950" lvl="2" indent="-285750"/>
            <a:r>
              <a:rPr lang="hu-HU" sz="1900" dirty="0"/>
              <a:t>SSIS: SQL Server </a:t>
            </a:r>
            <a:r>
              <a:rPr lang="hu-HU" sz="1900" dirty="0" err="1"/>
              <a:t>Integration</a:t>
            </a:r>
            <a:r>
              <a:rPr lang="hu-HU" sz="1900" dirty="0"/>
              <a:t> </a:t>
            </a:r>
            <a:r>
              <a:rPr lang="hu-HU" sz="1900" dirty="0" err="1"/>
              <a:t>Services</a:t>
            </a:r>
            <a:endParaRPr lang="hu-HU" sz="1900" dirty="0"/>
          </a:p>
          <a:p>
            <a:pPr marL="285750" lvl="1" indent="-285750"/>
            <a:r>
              <a:rPr lang="hu-HU" sz="2600" dirty="0"/>
              <a:t>Programozási nyelvek</a:t>
            </a:r>
          </a:p>
          <a:p>
            <a:pPr marL="742950" lvl="2" indent="-285750"/>
            <a:r>
              <a:rPr lang="hu-HU" sz="1900" dirty="0"/>
              <a:t>C# és Python </a:t>
            </a:r>
            <a:r>
              <a:rPr lang="hu-HU" sz="1900" dirty="0" err="1"/>
              <a:t>szkriptek</a:t>
            </a:r>
            <a:endParaRPr lang="hu-HU" sz="1900" dirty="0"/>
          </a:p>
          <a:p>
            <a:pPr marL="285750" lvl="1" indent="-285750"/>
            <a:r>
              <a:rPr lang="hu-HU" sz="2600" dirty="0"/>
              <a:t>Mesterséges Intelligencia</a:t>
            </a:r>
          </a:p>
          <a:p>
            <a:pPr marL="742950" lvl="2" indent="-285750"/>
            <a:r>
              <a:rPr lang="hu-HU" sz="1900" dirty="0" err="1"/>
              <a:t>Ollama</a:t>
            </a:r>
            <a:r>
              <a:rPr lang="hu-HU" sz="1900" dirty="0"/>
              <a:t>: Lokálisan futtatott LLM, qwen2.5:1.5b modellel</a:t>
            </a:r>
          </a:p>
          <a:p>
            <a:pPr marL="285750" lvl="1" indent="-285750"/>
            <a:r>
              <a:rPr lang="hu-HU" sz="2600" dirty="0"/>
              <a:t>Adatok megjelenítése</a:t>
            </a:r>
          </a:p>
          <a:p>
            <a:pPr marL="742950" lvl="2" indent="-285750"/>
            <a:r>
              <a:rPr lang="hu-HU" sz="1900" dirty="0"/>
              <a:t>Microsoft </a:t>
            </a:r>
            <a:r>
              <a:rPr lang="hu-HU" sz="1900" dirty="0" err="1"/>
              <a:t>Power</a:t>
            </a:r>
            <a:r>
              <a:rPr lang="hu-HU" sz="1900" dirty="0"/>
              <a:t> BI riportok</a:t>
            </a:r>
          </a:p>
          <a:p>
            <a:pPr marL="0" lvl="1" indent="0">
              <a:buNone/>
            </a:pPr>
            <a:endParaRPr lang="hu-HU" sz="1800" dirty="0"/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6C513FFB-F6C1-DEA3-1E4C-B19B87C6C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284" y="2328452"/>
            <a:ext cx="1838582" cy="1130276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0D173F43-85CD-7CCB-6808-D7AAF719B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141" y="2335505"/>
            <a:ext cx="1838582" cy="685896"/>
          </a:xfrm>
          <a:prstGeom prst="rect">
            <a:avLst/>
          </a:prstGeom>
        </p:spPr>
      </p:pic>
      <p:pic>
        <p:nvPicPr>
          <p:cNvPr id="1026" name="Picture 2" descr="Rad - The Database Guy: Installing SQL Server and the Latest SSMS in ...">
            <a:extLst>
              <a:ext uri="{FF2B5EF4-FFF2-40B4-BE49-F238E27FC236}">
                <a16:creationId xmlns:a16="http://schemas.microsoft.com/office/drawing/2014/main" id="{CE6701F7-85DA-343D-0E2C-9346777D9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702" y="3249495"/>
            <a:ext cx="960998" cy="96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5444C1A-C0C1-AEC4-5C9E-A03BCA4CC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909" y="3573320"/>
            <a:ext cx="919291" cy="91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程序员实测：Ollama与LM Studio深度对比，本地大模型选型指南_lmstudio和ollama哪个好-CSDN博客">
            <a:extLst>
              <a:ext uri="{FF2B5EF4-FFF2-40B4-BE49-F238E27FC236}">
                <a16:creationId xmlns:a16="http://schemas.microsoft.com/office/drawing/2014/main" id="{96781B1E-F16D-0388-681B-1791844AE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391" y="5208625"/>
            <a:ext cx="2312107" cy="79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ntroduction to Microsoft Power BI | Accredited Institute of ...">
            <a:extLst>
              <a:ext uri="{FF2B5EF4-FFF2-40B4-BE49-F238E27FC236}">
                <a16:creationId xmlns:a16="http://schemas.microsoft.com/office/drawing/2014/main" id="{5AAA8C58-3FC6-B273-AD40-F8FFB4B15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89" y="5590359"/>
            <a:ext cx="2160008" cy="121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y Is The Python Programming Language So Popular?">
            <a:extLst>
              <a:ext uri="{FF2B5EF4-FFF2-40B4-BE49-F238E27FC236}">
                <a16:creationId xmlns:a16="http://schemas.microsoft.com/office/drawing/2014/main" id="{1262F078-B595-4A4E-4480-B9A14339D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598" y="4458054"/>
            <a:ext cx="1108682" cy="110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8440862-C6D5-C970-1FEB-7A29C3662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966" y="4087166"/>
            <a:ext cx="1479570" cy="147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33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48190CA-08B9-2AA7-9D27-0576249C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A félév ütemezése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C20FD7E2-96C1-8B5D-851A-D98E66B525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251371"/>
              </p:ext>
            </p:extLst>
          </p:nvPr>
        </p:nvGraphicFramePr>
        <p:xfrm>
          <a:off x="568956" y="2126526"/>
          <a:ext cx="11155680" cy="4490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0896">
                  <a:extLst>
                    <a:ext uri="{9D8B030D-6E8A-4147-A177-3AD203B41FA5}">
                      <a16:colId xmlns:a16="http://schemas.microsoft.com/office/drawing/2014/main" val="1633021938"/>
                    </a:ext>
                  </a:extLst>
                </a:gridCol>
                <a:gridCol w="10124784">
                  <a:extLst>
                    <a:ext uri="{9D8B030D-6E8A-4147-A177-3AD203B41FA5}">
                      <a16:colId xmlns:a16="http://schemas.microsoft.com/office/drawing/2014/main" val="2208383879"/>
                    </a:ext>
                  </a:extLst>
                </a:gridCol>
              </a:tblGrid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Hét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Témakör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26013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Konzulens által küldött oktató anyagok feldolgozása.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234677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hu-HU" sz="2000" dirty="0"/>
                        <a:t>Adathalmazok és AP-k után kutatás. + Projekt konkrét témájának kiválasztása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051550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API kérések létrehozása + RAW tábla sémák megtervezése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19558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000" dirty="0"/>
                        <a:t>DIM és FACT tábla sémák megtervezése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21875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Felhasznált technológiák felállítása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912392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Adatbázist felépítő kódok létrehozása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0158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11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RAW táblákhoz tartozó SSIS </a:t>
                      </a:r>
                      <a:r>
                        <a:rPr lang="hu-HU" sz="2000" dirty="0" err="1"/>
                        <a:t>pipeline</a:t>
                      </a:r>
                      <a:r>
                        <a:rPr lang="hu-HU" sz="2000" dirty="0"/>
                        <a:t> felállítása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57615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12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 err="1"/>
                        <a:t>Ollama</a:t>
                      </a:r>
                      <a:r>
                        <a:rPr lang="hu-HU" sz="2000" dirty="0"/>
                        <a:t> lokális környezet felállítása + DIM táblákhoz tartozó </a:t>
                      </a:r>
                      <a:r>
                        <a:rPr lang="hu-HU" sz="2000" dirty="0" err="1"/>
                        <a:t>pipeline</a:t>
                      </a:r>
                      <a:r>
                        <a:rPr lang="hu-HU" sz="2000" dirty="0"/>
                        <a:t> </a:t>
                      </a:r>
                      <a:r>
                        <a:rPr lang="hu-H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felállítása</a:t>
                      </a:r>
                      <a:endParaRPr lang="hu-HU" sz="2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628614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13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hu-H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kategorizáló </a:t>
                      </a:r>
                      <a:r>
                        <a:rPr lang="hu-HU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szkript</a:t>
                      </a:r>
                      <a:r>
                        <a:rPr lang="hu-H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megírása +  STG és FACT táblákhoz tartozó </a:t>
                      </a:r>
                      <a:r>
                        <a:rPr lang="hu-HU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pipelineok</a:t>
                      </a:r>
                      <a:r>
                        <a:rPr lang="hu-H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felállítása</a:t>
                      </a:r>
                    </a:p>
                  </a:txBody>
                  <a:tcPr marL="63500" marR="63500" marT="63500" marB="635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21712"/>
                  </a:ext>
                </a:extLst>
              </a:tr>
              <a:tr h="380903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14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hu-HU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r>
                        <a:rPr lang="hu-HU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BI jelentések megalkotása</a:t>
                      </a:r>
                    </a:p>
                  </a:txBody>
                  <a:tcPr marL="63500" marR="63500" marT="63500" marB="635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54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49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BEAD69-F071-1420-8CF4-A81A552E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Adatbázis architektúra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9CC464-A220-8BF9-DFDC-322E42CCF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487168"/>
            <a:ext cx="10168128" cy="3695020"/>
          </a:xfrm>
        </p:spPr>
        <p:txBody>
          <a:bodyPr anchor="ctr">
            <a:normAutofit/>
          </a:bodyPr>
          <a:lstStyle/>
          <a:p>
            <a:r>
              <a:rPr lang="hu-HU" sz="3200" dirty="0"/>
              <a:t>RAW és STG táblák</a:t>
            </a:r>
          </a:p>
          <a:p>
            <a:pPr lvl="1"/>
            <a:r>
              <a:rPr lang="hu-HU" sz="2800" dirty="0"/>
              <a:t>Szerepkörük</a:t>
            </a:r>
          </a:p>
          <a:p>
            <a:pPr lvl="2"/>
            <a:r>
              <a:rPr lang="hu-HU" dirty="0"/>
              <a:t>RAW: nyers, módosítatlan adatok</a:t>
            </a:r>
          </a:p>
          <a:p>
            <a:pPr lvl="2"/>
            <a:r>
              <a:rPr lang="hu-HU" dirty="0"/>
              <a:t>STG: Átmeneti, </a:t>
            </a:r>
            <a:r>
              <a:rPr lang="hu-HU" dirty="0" err="1"/>
              <a:t>Staging</a:t>
            </a:r>
            <a:r>
              <a:rPr lang="hu-HU" dirty="0"/>
              <a:t> tábla kategorizáláshoz</a:t>
            </a:r>
          </a:p>
          <a:p>
            <a:pPr lvl="1"/>
            <a:r>
              <a:rPr lang="hu-HU" sz="2800" dirty="0" err="1"/>
              <a:t>ProcessedFlag</a:t>
            </a:r>
            <a:endParaRPr lang="hu-HU" sz="2800" dirty="0"/>
          </a:p>
          <a:p>
            <a:pPr lvl="1"/>
            <a:r>
              <a:rPr lang="hu-HU" sz="2800" dirty="0"/>
              <a:t>API kapcsolat</a:t>
            </a:r>
          </a:p>
          <a:p>
            <a:pPr lvl="1"/>
            <a:endParaRPr lang="hu-HU" sz="18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00C92AF-4595-E095-884A-6B877DBF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040" y="2092775"/>
            <a:ext cx="4491241" cy="46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64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71198-49D7-F99F-B57E-5FFB3CF5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BF69F1-81BA-B997-787C-71AB1246D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4B2421-6083-A47A-2A5B-9A1F8059E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276662-C008-C968-50B5-5EC38236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B672FCD-ECEC-DB90-B096-89DDAE80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 dirty="0"/>
              <a:t>Adatbázis architektúra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3465C6-3E43-2E5A-3B31-E37702279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FA3D3B-1BDB-4CC0-6EC6-AF8F591C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715" y="2404028"/>
            <a:ext cx="6652119" cy="3695020"/>
          </a:xfrm>
        </p:spPr>
        <p:txBody>
          <a:bodyPr>
            <a:normAutofit/>
          </a:bodyPr>
          <a:lstStyle/>
          <a:p>
            <a:r>
              <a:rPr lang="hu-HU" dirty="0"/>
              <a:t>DIM és FACT táblák</a:t>
            </a:r>
          </a:p>
          <a:p>
            <a:pPr lvl="1"/>
            <a:r>
              <a:rPr lang="hu-HU" dirty="0"/>
              <a:t>Szerepköreik</a:t>
            </a:r>
          </a:p>
          <a:p>
            <a:pPr lvl="2"/>
            <a:r>
              <a:rPr lang="hu-HU" sz="1800" dirty="0"/>
              <a:t>Dimenziók: </a:t>
            </a:r>
            <a:r>
              <a:rPr lang="hu-HU" sz="1800" dirty="0" err="1"/>
              <a:t>kotextus</a:t>
            </a:r>
            <a:r>
              <a:rPr lang="hu-HU" sz="1800" dirty="0"/>
              <a:t>, szűrési feltételek</a:t>
            </a:r>
          </a:p>
          <a:p>
            <a:pPr lvl="2"/>
            <a:r>
              <a:rPr lang="hu-HU" sz="1800" dirty="0"/>
              <a:t>Tények: mérhető, fő adatok</a:t>
            </a:r>
          </a:p>
          <a:p>
            <a:pPr lvl="1"/>
            <a:r>
              <a:rPr lang="hu-HU" dirty="0"/>
              <a:t>Felépítés: Csillag séma</a:t>
            </a:r>
          </a:p>
          <a:p>
            <a:pPr lvl="2"/>
            <a:r>
              <a:rPr lang="hu-HU" sz="1800" dirty="0" err="1"/>
              <a:t>Power</a:t>
            </a:r>
            <a:r>
              <a:rPr lang="hu-HU" sz="1800" dirty="0"/>
              <a:t> BI teljesítmény növelésére</a:t>
            </a:r>
          </a:p>
          <a:p>
            <a:pPr marL="228600" lvl="1">
              <a:spcBef>
                <a:spcPts val="1000"/>
              </a:spcBef>
            </a:pPr>
            <a:r>
              <a:rPr lang="hu-HU" sz="2800" dirty="0"/>
              <a:t>Végleges adatok tárháza</a:t>
            </a:r>
          </a:p>
          <a:p>
            <a:pPr lvl="1"/>
            <a:r>
              <a:rPr lang="hu-HU" dirty="0"/>
              <a:t>Megtisztított adatok</a:t>
            </a:r>
          </a:p>
          <a:p>
            <a:pPr lvl="1"/>
            <a:r>
              <a:rPr lang="hu-HU" dirty="0"/>
              <a:t>Transzformált adatok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5BEB5F-4EC1-2ECD-197D-C95A8C019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516" y="2018806"/>
            <a:ext cx="741148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18B3FEB-0009-57CA-FF21-D27FDD03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ETL jobok (Control Flow)</a:t>
            </a:r>
            <a:endParaRPr lang="hu-HU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D34A57-1AE6-D177-8D7E-2361FBED8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17" y="2404028"/>
            <a:ext cx="3425227" cy="3695020"/>
          </a:xfrm>
        </p:spPr>
        <p:txBody>
          <a:bodyPr anchor="ctr">
            <a:normAutofit/>
          </a:bodyPr>
          <a:lstStyle/>
          <a:p>
            <a:r>
              <a:rPr lang="hu-HU" sz="2400" dirty="0"/>
              <a:t>SSIS megvalósítás</a:t>
            </a:r>
          </a:p>
          <a:p>
            <a:pPr lvl="1"/>
            <a:r>
              <a:rPr lang="hu-HU" sz="2000" dirty="0"/>
              <a:t>adatintegrációs munkafolyamat irányítása</a:t>
            </a:r>
          </a:p>
          <a:p>
            <a:pPr marL="228600" lvl="1">
              <a:spcBef>
                <a:spcPts val="1000"/>
              </a:spcBef>
            </a:pPr>
            <a:r>
              <a:rPr lang="hu-HU" dirty="0"/>
              <a:t>Adatfeldolgozási feladatok (ETL </a:t>
            </a:r>
            <a:r>
              <a:rPr lang="hu-HU" dirty="0" err="1"/>
              <a:t>jobs</a:t>
            </a:r>
            <a:r>
              <a:rPr lang="hu-HU" dirty="0"/>
              <a:t>) végrehajtási sorrendje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D5FB8D6-3980-734E-8386-E6DAA90F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944" y="2177746"/>
            <a:ext cx="8351597" cy="452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03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6A521-01FD-3D78-698B-1161E587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EF3747-960E-B8F0-5F25-D847265BD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DF18BD-1E50-69A0-156D-495BE611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24DEF9-509F-2010-FE99-33DDE619A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4A8A005-6E84-0CB7-DEBC-4A681D46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 dirty="0"/>
              <a:t>ETL </a:t>
            </a:r>
            <a:r>
              <a:rPr lang="hu-HU" sz="4000" dirty="0" err="1"/>
              <a:t>jobok</a:t>
            </a:r>
            <a:r>
              <a:rPr lang="hu-HU" sz="4000" dirty="0"/>
              <a:t> (Data Flows)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ED582-EC60-DC00-2F41-3F37BFB2E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2994E1-F0CA-7F33-87ED-F5DA923BE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49" y="2092752"/>
            <a:ext cx="6556376" cy="4534292"/>
          </a:xfrm>
        </p:spPr>
        <p:txBody>
          <a:bodyPr>
            <a:normAutofit fontScale="92500" lnSpcReduction="10000"/>
          </a:bodyPr>
          <a:lstStyle/>
          <a:p>
            <a:r>
              <a:rPr lang="hu-HU" sz="2400" b="1" dirty="0"/>
              <a:t>Adatok konkrét feldolgozása és sorrendje</a:t>
            </a:r>
          </a:p>
          <a:p>
            <a:r>
              <a:rPr lang="hu-HU" sz="2000" dirty="0" err="1"/>
              <a:t>Source</a:t>
            </a:r>
            <a:r>
              <a:rPr lang="hu-HU" sz="2000" dirty="0"/>
              <a:t>/</a:t>
            </a:r>
            <a:r>
              <a:rPr lang="hu-HU" sz="2000" dirty="0" err="1"/>
              <a:t>Destination</a:t>
            </a:r>
            <a:r>
              <a:rPr lang="hu-HU" sz="2000" dirty="0"/>
              <a:t> komponensek</a:t>
            </a:r>
          </a:p>
          <a:p>
            <a:pPr lvl="1"/>
            <a:r>
              <a:rPr lang="hu-HU" sz="1600" dirty="0" err="1"/>
              <a:t>Flat</a:t>
            </a:r>
            <a:r>
              <a:rPr lang="hu-HU" sz="1600" dirty="0"/>
              <a:t> File </a:t>
            </a:r>
            <a:r>
              <a:rPr lang="hu-HU" sz="1600" dirty="0" err="1"/>
              <a:t>Source</a:t>
            </a:r>
            <a:r>
              <a:rPr lang="hu-HU" sz="1600" dirty="0"/>
              <a:t> komponens</a:t>
            </a:r>
          </a:p>
          <a:p>
            <a:pPr lvl="1"/>
            <a:r>
              <a:rPr lang="hu-HU" sz="1600" dirty="0"/>
              <a:t>OLE DB </a:t>
            </a:r>
            <a:r>
              <a:rPr lang="hu-HU" sz="1600" dirty="0" err="1"/>
              <a:t>Source</a:t>
            </a:r>
            <a:r>
              <a:rPr lang="hu-HU" sz="1600" dirty="0"/>
              <a:t>/</a:t>
            </a:r>
            <a:r>
              <a:rPr lang="hu-HU" sz="1600" dirty="0" err="1"/>
              <a:t>Destination</a:t>
            </a:r>
            <a:r>
              <a:rPr lang="hu-HU" sz="1600" dirty="0"/>
              <a:t> komponensek</a:t>
            </a:r>
          </a:p>
          <a:p>
            <a:r>
              <a:rPr lang="hu-HU" sz="2000" dirty="0"/>
              <a:t>C# </a:t>
            </a:r>
            <a:r>
              <a:rPr lang="hu-HU" sz="2000" dirty="0" err="1"/>
              <a:t>szkript</a:t>
            </a:r>
            <a:r>
              <a:rPr lang="hu-HU" sz="2000" dirty="0"/>
              <a:t> komponens</a:t>
            </a:r>
          </a:p>
          <a:p>
            <a:pPr lvl="1"/>
            <a:r>
              <a:rPr lang="hu-HU" sz="1600" dirty="0"/>
              <a:t>API hívások</a:t>
            </a:r>
          </a:p>
          <a:p>
            <a:r>
              <a:rPr lang="hu-HU" sz="2000" dirty="0"/>
              <a:t>Data Conversion komponens</a:t>
            </a:r>
          </a:p>
          <a:p>
            <a:pPr lvl="1"/>
            <a:r>
              <a:rPr lang="hu-HU" sz="1600" dirty="0" err="1"/>
              <a:t>Pipeline-on</a:t>
            </a:r>
            <a:r>
              <a:rPr lang="hu-HU" sz="1600" dirty="0"/>
              <a:t> haladó adatok típusát lehet módosítani</a:t>
            </a:r>
          </a:p>
          <a:p>
            <a:r>
              <a:rPr lang="hu-HU" sz="2000" dirty="0" err="1"/>
              <a:t>Lookup</a:t>
            </a:r>
            <a:r>
              <a:rPr lang="hu-HU" sz="2000" dirty="0"/>
              <a:t> komponens</a:t>
            </a:r>
          </a:p>
          <a:p>
            <a:pPr lvl="1"/>
            <a:r>
              <a:rPr lang="hu-HU" sz="1600" dirty="0" err="1"/>
              <a:t>Duplikáció</a:t>
            </a:r>
            <a:r>
              <a:rPr lang="hu-HU" sz="1600" dirty="0"/>
              <a:t> ellenőrzés</a:t>
            </a:r>
          </a:p>
          <a:p>
            <a:pPr lvl="1"/>
            <a:r>
              <a:rPr lang="hu-HU" sz="1600" dirty="0"/>
              <a:t>ID keresés és </a:t>
            </a:r>
            <a:r>
              <a:rPr lang="hu-HU" sz="1600" dirty="0" err="1"/>
              <a:t>pipeline</a:t>
            </a:r>
            <a:r>
              <a:rPr lang="hu-HU" sz="1600" dirty="0"/>
              <a:t>-hoz csatolás</a:t>
            </a:r>
          </a:p>
          <a:p>
            <a:r>
              <a:rPr lang="hu-HU" sz="2000" dirty="0" err="1"/>
              <a:t>Derived</a:t>
            </a:r>
            <a:r>
              <a:rPr lang="hu-HU" sz="2000" dirty="0"/>
              <a:t> </a:t>
            </a:r>
            <a:r>
              <a:rPr lang="hu-HU" sz="2000" dirty="0" err="1"/>
              <a:t>Column</a:t>
            </a:r>
            <a:r>
              <a:rPr lang="hu-HU" sz="2000" dirty="0"/>
              <a:t> komponens</a:t>
            </a:r>
          </a:p>
          <a:p>
            <a:pPr lvl="1"/>
            <a:r>
              <a:rPr lang="hu-HU" sz="1600" dirty="0" err="1"/>
              <a:t>Pipeline-on</a:t>
            </a:r>
            <a:r>
              <a:rPr lang="hu-HU" sz="1600" dirty="0"/>
              <a:t> haladó adatokon való műveletek</a:t>
            </a:r>
          </a:p>
          <a:p>
            <a:r>
              <a:rPr lang="hu-HU" sz="2000" dirty="0"/>
              <a:t>OLE DB </a:t>
            </a:r>
            <a:r>
              <a:rPr lang="hu-HU" sz="2000" dirty="0" err="1"/>
              <a:t>Command</a:t>
            </a:r>
            <a:r>
              <a:rPr lang="hu-HU" sz="2000" dirty="0"/>
              <a:t> komponens</a:t>
            </a:r>
          </a:p>
          <a:p>
            <a:pPr lvl="1"/>
            <a:r>
              <a:rPr lang="hu-HU" sz="1600" dirty="0"/>
              <a:t>Adatbázison végrehajtható parancs elindítása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8FFE398-1E70-8DD3-9CFF-4E013D98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513" y="3793787"/>
            <a:ext cx="2165181" cy="302464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BC8AA04-113B-F00B-DEE8-629EA3C38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694" y="2908569"/>
            <a:ext cx="2298236" cy="387029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0ECA0C9-16E2-A645-28F7-7D77D7472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381" y="4181422"/>
            <a:ext cx="2035083" cy="26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81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FFE2CE6-D1C3-F27E-45B0-C4B7E6F8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Lokális LLM és Python kategorizálás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F5590B-237E-2B2A-DD90-6AF4958D9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560320"/>
            <a:ext cx="10168128" cy="3695020"/>
          </a:xfrm>
        </p:spPr>
        <p:txBody>
          <a:bodyPr>
            <a:normAutofit lnSpcReduction="10000"/>
          </a:bodyPr>
          <a:lstStyle/>
          <a:p>
            <a:r>
              <a:rPr lang="hu-HU" sz="2400" dirty="0"/>
              <a:t>Lokálisan futtatott </a:t>
            </a:r>
            <a:r>
              <a:rPr lang="hu-HU" sz="2400" dirty="0" err="1"/>
              <a:t>Ollama</a:t>
            </a:r>
            <a:endParaRPr lang="hu-HU" sz="2400" dirty="0"/>
          </a:p>
          <a:p>
            <a:pPr lvl="1"/>
            <a:r>
              <a:rPr lang="hu-HU" sz="2000" dirty="0"/>
              <a:t>Qwen2.5 1.5b </a:t>
            </a:r>
            <a:r>
              <a:rPr lang="hu-HU" sz="2000" dirty="0" err="1"/>
              <a:t>model</a:t>
            </a:r>
            <a:endParaRPr lang="hu-HU" sz="2000" dirty="0"/>
          </a:p>
          <a:p>
            <a:pPr lvl="2"/>
            <a:r>
              <a:rPr lang="hu-HU" sz="1600" dirty="0"/>
              <a:t>alacsony  hardverigény </a:t>
            </a:r>
          </a:p>
          <a:p>
            <a:pPr lvl="2"/>
            <a:r>
              <a:rPr lang="hu-HU" sz="1600" dirty="0"/>
              <a:t>nulla API költség </a:t>
            </a:r>
          </a:p>
          <a:p>
            <a:pPr lvl="2"/>
            <a:r>
              <a:rPr lang="hu-HU" sz="1600" dirty="0"/>
              <a:t>teljes adatbiztonság</a:t>
            </a:r>
          </a:p>
          <a:p>
            <a:pPr marL="228600" lvl="2">
              <a:spcBef>
                <a:spcPts val="1000"/>
              </a:spcBef>
            </a:pPr>
            <a:r>
              <a:rPr lang="hu-HU" sz="2400" dirty="0"/>
              <a:t>Python </a:t>
            </a:r>
            <a:r>
              <a:rPr lang="hu-HU" sz="2400" dirty="0" err="1"/>
              <a:t>Szkript</a:t>
            </a:r>
            <a:r>
              <a:rPr lang="hu-HU" sz="2400" dirty="0"/>
              <a:t> lépései</a:t>
            </a:r>
          </a:p>
          <a:p>
            <a:pPr marL="685800" lvl="3">
              <a:spcBef>
                <a:spcPts val="1000"/>
              </a:spcBef>
            </a:pPr>
            <a:r>
              <a:rPr lang="hu-HU" sz="2400" dirty="0"/>
              <a:t>Szerverhez csatlakozás</a:t>
            </a:r>
          </a:p>
          <a:p>
            <a:pPr marL="685800" lvl="3">
              <a:spcBef>
                <a:spcPts val="1000"/>
              </a:spcBef>
            </a:pPr>
            <a:r>
              <a:rPr lang="hu-HU" sz="2400" dirty="0"/>
              <a:t>Szükséges adatok lekérése</a:t>
            </a:r>
          </a:p>
          <a:p>
            <a:pPr marL="685800" lvl="3">
              <a:spcBef>
                <a:spcPts val="1000"/>
              </a:spcBef>
            </a:pPr>
            <a:r>
              <a:rPr lang="hu-HU" sz="2400" dirty="0"/>
              <a:t>Lokális LLM-</a:t>
            </a:r>
            <a:r>
              <a:rPr lang="hu-HU" sz="2400" dirty="0" err="1"/>
              <a:t>hez</a:t>
            </a:r>
            <a:r>
              <a:rPr lang="hu-HU" sz="2400" dirty="0"/>
              <a:t> intézi a dinamikus kérdéseket egy Prompt-</a:t>
            </a:r>
            <a:r>
              <a:rPr lang="hu-HU" sz="2400" dirty="0" err="1"/>
              <a:t>al</a:t>
            </a:r>
            <a:r>
              <a:rPr lang="hu-HU" sz="2400" dirty="0"/>
              <a:t>.</a:t>
            </a:r>
          </a:p>
          <a:p>
            <a:pPr marL="685800" lvl="3">
              <a:spcBef>
                <a:spcPts val="1000"/>
              </a:spcBef>
            </a:pPr>
            <a:r>
              <a:rPr lang="hu-HU" sz="2400" dirty="0"/>
              <a:t>Válaszokat tárolja, majd visszaírja a szerverre.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DEB352F-257E-0979-4FDE-92A06EDCF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5" y="2553194"/>
            <a:ext cx="7351682" cy="271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05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004536-AB6E-27AC-49DE-F834DB19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hu-HU" sz="4000" dirty="0"/>
              <a:t>Riportok (</a:t>
            </a:r>
            <a:r>
              <a:rPr lang="hu-HU" sz="4000" dirty="0" err="1"/>
              <a:t>Power</a:t>
            </a:r>
            <a:r>
              <a:rPr lang="hu-HU" sz="4000" dirty="0"/>
              <a:t> BI)</a:t>
            </a:r>
            <a:br>
              <a:rPr lang="hu-HU" sz="4000" dirty="0"/>
            </a:br>
            <a:r>
              <a:rPr lang="hu-HU" sz="4000" dirty="0"/>
              <a:t>Árfolyamok és hőtérkép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73DE59-C79C-79BD-4C6A-E2DD0900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97100"/>
            <a:ext cx="10168128" cy="995471"/>
          </a:xfrm>
        </p:spPr>
        <p:txBody>
          <a:bodyPr>
            <a:normAutofit fontScale="92500" lnSpcReduction="20000"/>
          </a:bodyPr>
          <a:lstStyle/>
          <a:p>
            <a:r>
              <a:rPr lang="hu-HU" sz="2200" dirty="0"/>
              <a:t>Másolat a szerver adatairól és szerkezetéről</a:t>
            </a:r>
          </a:p>
          <a:p>
            <a:r>
              <a:rPr lang="hu-HU" sz="2200" dirty="0"/>
              <a:t>Felhasználóknak adatelemző oldalak</a:t>
            </a:r>
          </a:p>
          <a:p>
            <a:r>
              <a:rPr lang="hu-HU" sz="2200" dirty="0"/>
              <a:t>DAX kódok</a:t>
            </a:r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24190EC-6503-D287-A8AC-F7C7962B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653" y="3092571"/>
            <a:ext cx="6096000" cy="343309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C3491C8-AACD-AED7-14BB-7F8A88266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653" y="3099697"/>
            <a:ext cx="6114653" cy="34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62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13AA8-5083-F9FF-9D22-0C5B82A5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A920AADC-B7A9-C86C-D7D8-8EFE97904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8842C771-61E5-C7FC-6390-2C16736D8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02788BF2-3BBA-DB4D-BD14-9FE07030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3C9598-E2B6-DD7C-7F98-B8D52EB9F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hu-HU" sz="4000" dirty="0"/>
              <a:t>Riportok (</a:t>
            </a:r>
            <a:r>
              <a:rPr lang="hu-HU" sz="4000" dirty="0" err="1"/>
              <a:t>Power</a:t>
            </a:r>
            <a:r>
              <a:rPr lang="hu-HU" sz="4000" dirty="0"/>
              <a:t> BI)</a:t>
            </a:r>
            <a:br>
              <a:rPr lang="hu-HU" sz="4000" dirty="0"/>
            </a:br>
            <a:r>
              <a:rPr lang="hu-HU" sz="4000" dirty="0"/>
              <a:t>Hírek eloszlása és Hírek, valuta árfolyam korreláció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1F68D283-FC68-C7BB-6EF2-789A12B59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5B0D42-E3A0-4C42-D597-BEE78E8E5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106388"/>
            <a:ext cx="10168128" cy="645068"/>
          </a:xfrm>
        </p:spPr>
        <p:txBody>
          <a:bodyPr>
            <a:normAutofit/>
          </a:bodyPr>
          <a:lstStyle/>
          <a:p>
            <a:r>
              <a:rPr lang="hu-HU" sz="2200" dirty="0" err="1"/>
              <a:t>Tooltip</a:t>
            </a:r>
            <a:r>
              <a:rPr lang="hu-HU" sz="2200" dirty="0"/>
              <a:t> oldal (elrejtve)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9A68DD7-0F14-E0AE-695B-98B93003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7821"/>
            <a:ext cx="6096000" cy="342116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0A17D66-4B72-F4E8-FBD1-2C715F34D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01028"/>
            <a:ext cx="6136260" cy="34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39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4ABF6C-B760-BB09-234A-1FB2F599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Fejlesztési lehetőségek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5C8C1E-8948-6909-1CAA-350659CE6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68164"/>
            <a:ext cx="10168128" cy="425148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3200" dirty="0"/>
              <a:t>WEB frontend</a:t>
            </a:r>
          </a:p>
          <a:p>
            <a:pPr>
              <a:lnSpc>
                <a:spcPct val="150000"/>
              </a:lnSpc>
            </a:pPr>
            <a:r>
              <a:rPr lang="hu-HU" sz="3200" dirty="0"/>
              <a:t>AI integráció</a:t>
            </a:r>
          </a:p>
          <a:p>
            <a:pPr>
              <a:lnSpc>
                <a:spcPct val="150000"/>
              </a:lnSpc>
            </a:pPr>
            <a:r>
              <a:rPr lang="hu-HU" sz="3200" dirty="0"/>
              <a:t>OLAP réteg</a:t>
            </a:r>
          </a:p>
          <a:p>
            <a:pPr>
              <a:lnSpc>
                <a:spcPct val="100000"/>
              </a:lnSpc>
            </a:pPr>
            <a:r>
              <a:rPr lang="hu-HU" sz="3200" dirty="0"/>
              <a:t>RAW and FACT/DIM táblák </a:t>
            </a:r>
            <a:br>
              <a:rPr lang="hu-HU" sz="3200" dirty="0"/>
            </a:br>
            <a:r>
              <a:rPr lang="hu-HU" sz="3200" dirty="0"/>
              <a:t>külön adatbázisokba való áthelyezése</a:t>
            </a:r>
          </a:p>
        </p:txBody>
      </p:sp>
    </p:spTree>
    <p:extLst>
      <p:ext uri="{BB962C8B-B14F-4D97-AF65-F5344CB8AC3E}">
        <p14:creationId xmlns:p14="http://schemas.microsoft.com/office/powerpoint/2010/main" val="3212595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– 2022 téma">
  <a:themeElements>
    <a:clrScheme name="Office 2013 – 2022 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Téma1</Template>
  <TotalTime>151</TotalTime>
  <Words>429</Words>
  <Application>Microsoft Office PowerPoint</Application>
  <PresentationFormat>Szélesvásznú</PresentationFormat>
  <Paragraphs>107</Paragraphs>
  <Slides>12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2013 – 2022 téma</vt:lpstr>
      <vt:lpstr>BigData / Üzleti Intelligencia  (BI) rendszer fejlesztése </vt:lpstr>
      <vt:lpstr>A projekt maga</vt:lpstr>
      <vt:lpstr>Felhasznált technológiák</vt:lpstr>
      <vt:lpstr>A félév ütemezése</vt:lpstr>
      <vt:lpstr>Adatbázis architektúra</vt:lpstr>
      <vt:lpstr>Adatbázis architektúra</vt:lpstr>
      <vt:lpstr>ETL jobok (Control Flow)</vt:lpstr>
      <vt:lpstr>ETL jobok (Data Flows)</vt:lpstr>
      <vt:lpstr>Lokális LLM és Python kategorizálás</vt:lpstr>
      <vt:lpstr>Riportok (Power BI) Árfolyamok és hőtérkép</vt:lpstr>
      <vt:lpstr>Riportok (Power BI) Hírek eloszlása és Hírek, valuta árfolyam korreláció</vt:lpstr>
      <vt:lpstr>Fejlesztési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Lehel Dutka</dc:creator>
  <cp:lastModifiedBy>Lehel Dutka</cp:lastModifiedBy>
  <cp:revision>24</cp:revision>
  <dcterms:created xsi:type="dcterms:W3CDTF">2026-05-30T10:45:50Z</dcterms:created>
  <dcterms:modified xsi:type="dcterms:W3CDTF">2026-05-30T13:16:56Z</dcterms:modified>
</cp:coreProperties>
</file>